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Poppins Bold" charset="1" panose="00000800000000000000"/>
      <p:regular r:id="rId47"/>
    </p:embeddedFont>
    <p:embeddedFont>
      <p:font typeface="Frankfurter Medium" charset="1" panose="020F0604020204080C04"/>
      <p:regular r:id="rId48"/>
    </p:embeddedFont>
    <p:embeddedFont>
      <p:font typeface="Anton" charset="1" panose="00000500000000000000"/>
      <p:regular r:id="rId49"/>
    </p:embeddedFont>
    <p:embeddedFont>
      <p:font typeface="Poppins" charset="1" panose="00000500000000000000"/>
      <p:regular r:id="rId50"/>
    </p:embeddedFont>
    <p:embeddedFont>
      <p:font typeface="The Seasons" charset="1" panose="00000000000000000000"/>
      <p:regular r:id="rId51"/>
    </p:embeddedFont>
    <p:embeddedFont>
      <p:font typeface="Open Sans Bold" charset="1" panose="020B08060305040202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VAG64lUWGjI.mp4" Type="http://schemas.openxmlformats.org/officeDocument/2006/relationships/video"/><Relationship Id="rId4" Target="../media/VAG64lUWGjI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sv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6812" y="3881755"/>
            <a:ext cx="13334377" cy="241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 estima que alrededor de 55 millones de personas viven con demencia, y que de estos un 60% y 80% corresponden al Alzheimer, la OMS prevé que el número de personas con demencia aumente hasta los 150 millones en 2050.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6812" y="3581717"/>
            <a:ext cx="13334377" cy="301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 bien los avances tecnológicos y científicos actuales permiten la detección temprana, aun no hay una cura definitiva para esta enfermedad siendo los adultos mayores los principales afectados por esta, repercutiendo en su memoria, lenguaje, orientación y autonomía.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6812" y="4481830"/>
            <a:ext cx="13334377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 Chile, se espera que el porcentaje de población con Alzheimer aumente de 1,06% a 3,1% en 2025.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6812" y="4781867"/>
            <a:ext cx="13334377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Ese porcentaje seguirá aumentando pero por lo menos podemos aliviar su camino y brindarles seguridad.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5868" y="-9118884"/>
            <a:ext cx="32599736" cy="28524769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FF3131"/>
            </a:solidFill>
            <a:ln w="95250" cap="sq">
              <a:solidFill>
                <a:srgbClr val="B1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1750"/>
              <a:ext cx="660400" cy="552450"/>
            </a:xfrm>
            <a:prstGeom prst="rect">
              <a:avLst/>
            </a:prstGeom>
          </p:spPr>
          <p:txBody>
            <a:bodyPr anchor="ctr" rtlCol="false" tIns="169649" lIns="169649" bIns="169649" rIns="169649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69302" y="4604989"/>
            <a:ext cx="1230882" cy="1077022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FF3131"/>
            </a:solidFill>
            <a:ln w="95250" cap="sq">
              <a:solidFill>
                <a:srgbClr val="B1242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1750"/>
              <a:ext cx="660400" cy="552450"/>
            </a:xfrm>
            <a:prstGeom prst="rect">
              <a:avLst/>
            </a:prstGeom>
          </p:spPr>
          <p:txBody>
            <a:bodyPr anchor="ctr" rtlCol="false" tIns="169649" lIns="169649" bIns="169649" rIns="169649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5754" y="2489637"/>
            <a:ext cx="7956493" cy="7797363"/>
          </a:xfrm>
          <a:custGeom>
            <a:avLst/>
            <a:gdLst/>
            <a:ahLst/>
            <a:cxnLst/>
            <a:rect r="r" b="b" t="t" l="l"/>
            <a:pathLst>
              <a:path h="7797363" w="7956493">
                <a:moveTo>
                  <a:pt x="0" y="0"/>
                </a:moveTo>
                <a:lnTo>
                  <a:pt x="7956492" y="0"/>
                </a:lnTo>
                <a:lnTo>
                  <a:pt x="7956492" y="7797363"/>
                </a:lnTo>
                <a:lnTo>
                  <a:pt x="0" y="7797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8494" y="-295275"/>
            <a:ext cx="10311011" cy="587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06"/>
              </a:lnSpc>
            </a:pPr>
            <a:r>
              <a:rPr lang="en-US" sz="15575">
                <a:solidFill>
                  <a:srgbClr val="FFFFFF"/>
                </a:solidFill>
                <a:latin typeface="Frankfurter Medium"/>
                <a:ea typeface="Frankfurter Medium"/>
                <a:cs typeface="Frankfurter Medium"/>
                <a:sym typeface="Frankfurter Medium"/>
              </a:rPr>
              <a:t>Remember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69302" y="4604989"/>
            <a:ext cx="1230882" cy="107702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FF3131"/>
            </a:solidFill>
            <a:ln w="95250" cap="sq">
              <a:solidFill>
                <a:srgbClr val="B1242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1750"/>
              <a:ext cx="660400" cy="552450"/>
            </a:xfrm>
            <a:prstGeom prst="rect">
              <a:avLst/>
            </a:prstGeom>
          </p:spPr>
          <p:txBody>
            <a:bodyPr anchor="ctr" rtlCol="false" tIns="169649" lIns="169649" bIns="169649" rIns="169649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0"/>
                  </a:srgbClr>
                </a:gs>
                <a:gs pos="100000">
                  <a:srgbClr val="5CE1E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88494" y="0"/>
            <a:ext cx="10311011" cy="10287000"/>
            <a:chOff x="0" y="0"/>
            <a:chExt cx="13748015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569679" y="3319516"/>
              <a:ext cx="10608657" cy="10396484"/>
            </a:xfrm>
            <a:custGeom>
              <a:avLst/>
              <a:gdLst/>
              <a:ahLst/>
              <a:cxnLst/>
              <a:rect r="r" b="b" t="t" l="l"/>
              <a:pathLst>
                <a:path h="10396484" w="10608657">
                  <a:moveTo>
                    <a:pt x="0" y="0"/>
                  </a:moveTo>
                  <a:lnTo>
                    <a:pt x="10608657" y="0"/>
                  </a:lnTo>
                  <a:lnTo>
                    <a:pt x="10608657" y="10396484"/>
                  </a:lnTo>
                  <a:lnTo>
                    <a:pt x="0" y="10396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-295275"/>
              <a:ext cx="13748015" cy="773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06"/>
                </a:lnSpc>
              </a:pPr>
              <a:r>
                <a:rPr lang="en-US" sz="15575">
                  <a:solidFill>
                    <a:srgbClr val="FFFFFF"/>
                  </a:solidFill>
                  <a:latin typeface="Frankfurter Medium"/>
                  <a:ea typeface="Frankfurter Medium"/>
                  <a:cs typeface="Frankfurter Medium"/>
                  <a:sym typeface="Frankfurter Medium"/>
                </a:rPr>
                <a:t>Remember You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5974410" y="6139985"/>
              <a:ext cx="1641176" cy="1436029"/>
              <a:chOff x="0" y="0"/>
              <a:chExt cx="812800" cy="71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32223" y="113558"/>
                    </a:moveTo>
                    <a:cubicBezTo>
                      <a:pt x="-33680" y="222131"/>
                      <a:pt x="12749" y="327809"/>
                      <a:pt x="71096" y="383897"/>
                    </a:cubicBezTo>
                    <a:lnTo>
                      <a:pt x="412247" y="711200"/>
                    </a:lnTo>
                    <a:lnTo>
                      <a:pt x="746197" y="385067"/>
                    </a:lnTo>
                    <a:cubicBezTo>
                      <a:pt x="800465" y="324730"/>
                      <a:pt x="821266" y="260730"/>
                      <a:pt x="809713" y="189465"/>
                    </a:cubicBezTo>
                    <a:cubicBezTo>
                      <a:pt x="793755" y="90882"/>
                      <a:pt x="712517" y="14398"/>
                      <a:pt x="612162" y="3476"/>
                    </a:cubicBezTo>
                    <a:cubicBezTo>
                      <a:pt x="550612" y="-3151"/>
                      <a:pt x="491155" y="14267"/>
                      <a:pt x="444750" y="52829"/>
                    </a:cubicBezTo>
                    <a:cubicBezTo>
                      <a:pt x="432260" y="63204"/>
                      <a:pt x="421096" y="74804"/>
                      <a:pt x="411367" y="87411"/>
                    </a:cubicBezTo>
                    <a:cubicBezTo>
                      <a:pt x="399823" y="73056"/>
                      <a:pt x="386287" y="59925"/>
                      <a:pt x="370977" y="48288"/>
                    </a:cubicBezTo>
                    <a:cubicBezTo>
                      <a:pt x="317614" y="7733"/>
                      <a:pt x="249687" y="-8369"/>
                      <a:pt x="184440" y="4154"/>
                    </a:cubicBezTo>
                    <a:cubicBezTo>
                      <a:pt x="122643" y="16092"/>
                      <a:pt x="67173" y="55954"/>
                      <a:pt x="32223" y="113558"/>
                    </a:cubicBezTo>
                    <a:close/>
                  </a:path>
                </a:pathLst>
              </a:custGeom>
              <a:solidFill>
                <a:srgbClr val="FF3131"/>
              </a:solidFill>
              <a:ln w="95250" cap="sq">
                <a:solidFill>
                  <a:srgbClr val="B12424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1750"/>
                <a:ext cx="660400" cy="552450"/>
              </a:xfrm>
              <a:prstGeom prst="rect">
                <a:avLst/>
              </a:prstGeom>
            </p:spPr>
            <p:txBody>
              <a:bodyPr anchor="ctr" rtlCol="false" tIns="169649" lIns="169649" bIns="169649" rIns="169649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692559" y="3177738"/>
            <a:ext cx="5451441" cy="2041032"/>
          </a:xfrm>
          <a:prstGeom prst="line">
            <a:avLst/>
          </a:prstGeom>
          <a:ln cap="flat" w="38100">
            <a:gradFill>
              <a:gsLst>
                <a:gs pos="0">
                  <a:srgbClr val="5DE0E6">
                    <a:alpha val="0"/>
                  </a:srgbClr>
                </a:gs>
                <a:gs pos="100000">
                  <a:srgbClr val="004AAD">
                    <a:alpha val="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3" id="3"/>
          <p:cNvSpPr/>
          <p:nvPr/>
        </p:nvSpPr>
        <p:spPr>
          <a:xfrm flipV="true">
            <a:off x="4557022" y="5143500"/>
            <a:ext cx="4567928" cy="2893012"/>
          </a:xfrm>
          <a:prstGeom prst="line">
            <a:avLst/>
          </a:prstGeom>
          <a:ln cap="flat" w="38100">
            <a:gradFill>
              <a:gsLst>
                <a:gs pos="0">
                  <a:srgbClr val="0097B2">
                    <a:alpha val="0"/>
                  </a:srgbClr>
                </a:gs>
                <a:gs pos="100000">
                  <a:srgbClr val="7ED957">
                    <a:alpha val="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>
            <a:off x="9124950" y="5218769"/>
            <a:ext cx="5690864" cy="897551"/>
          </a:xfrm>
          <a:prstGeom prst="line">
            <a:avLst/>
          </a:prstGeom>
          <a:ln cap="flat" w="38100">
            <a:gradFill>
              <a:gsLst>
                <a:gs pos="0">
                  <a:srgbClr val="FFDA6A">
                    <a:alpha val="0"/>
                  </a:srgbClr>
                </a:gs>
                <a:gs pos="100000">
                  <a:srgbClr val="FFF7DE">
                    <a:alpha val="0"/>
                  </a:srgbClr>
                </a:gs>
              </a:gsLst>
              <a:lin ang="540000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V="true">
            <a:off x="9124950" y="1884045"/>
            <a:ext cx="3495516" cy="3334725"/>
          </a:xfrm>
          <a:prstGeom prst="line">
            <a:avLst/>
          </a:prstGeom>
          <a:ln cap="flat" w="38100">
            <a:gradFill>
              <a:gsLst>
                <a:gs pos="0">
                  <a:srgbClr val="FF66C4">
                    <a:alpha val="0"/>
                  </a:srgbClr>
                </a:gs>
                <a:gs pos="100000">
                  <a:srgbClr val="FFDE59">
                    <a:alpha val="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9144000" y="5903500"/>
            <a:ext cx="2465857" cy="2615941"/>
          </a:xfrm>
          <a:prstGeom prst="line">
            <a:avLst/>
          </a:prstGeom>
          <a:ln cap="flat" w="38100">
            <a:gradFill>
              <a:gsLst>
                <a:gs pos="0">
                  <a:srgbClr val="EB4B3F">
                    <a:alpha val="0"/>
                  </a:srgbClr>
                </a:gs>
                <a:gs pos="100000">
                  <a:srgbClr val="F0945B">
                    <a:alpha val="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>
            <a:off x="6894904" y="1313815"/>
            <a:ext cx="2249096" cy="3045927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0"/>
                  </a:srgbClr>
                </a:gs>
                <a:gs pos="100000">
                  <a:srgbClr val="5CE1E6">
                    <a:alpha val="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7600950" y="360045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72793" y="3750989"/>
            <a:ext cx="2942413" cy="2935561"/>
            <a:chOff x="0" y="0"/>
            <a:chExt cx="3923218" cy="39140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7933" y="947277"/>
              <a:ext cx="3027351" cy="2966804"/>
            </a:xfrm>
            <a:custGeom>
              <a:avLst/>
              <a:gdLst/>
              <a:ahLst/>
              <a:cxnLst/>
              <a:rect r="r" b="b" t="t" l="l"/>
              <a:pathLst>
                <a:path h="2966804" w="3027351">
                  <a:moveTo>
                    <a:pt x="0" y="0"/>
                  </a:moveTo>
                  <a:lnTo>
                    <a:pt x="3027351" y="0"/>
                  </a:lnTo>
                  <a:lnTo>
                    <a:pt x="3027351" y="2966805"/>
                  </a:lnTo>
                  <a:lnTo>
                    <a:pt x="0" y="2966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3923218" cy="2218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22"/>
                </a:lnSpc>
              </a:pPr>
              <a:r>
                <a:rPr lang="en-US" sz="4444">
                  <a:solidFill>
                    <a:srgbClr val="FFFFFF"/>
                  </a:solidFill>
                  <a:latin typeface="Frankfurter Medium"/>
                  <a:ea typeface="Frankfurter Medium"/>
                  <a:cs typeface="Frankfurter Medium"/>
                  <a:sym typeface="Frankfurter Medium"/>
                </a:rPr>
                <a:t>Remember You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1704894" y="1752144"/>
              <a:ext cx="468336" cy="409794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32223" y="113558"/>
                    </a:moveTo>
                    <a:cubicBezTo>
                      <a:pt x="-33680" y="222131"/>
                      <a:pt x="12749" y="327809"/>
                      <a:pt x="71096" y="383897"/>
                    </a:cubicBezTo>
                    <a:lnTo>
                      <a:pt x="412247" y="711200"/>
                    </a:lnTo>
                    <a:lnTo>
                      <a:pt x="746197" y="385067"/>
                    </a:lnTo>
                    <a:cubicBezTo>
                      <a:pt x="800465" y="324730"/>
                      <a:pt x="821266" y="260730"/>
                      <a:pt x="809713" y="189465"/>
                    </a:cubicBezTo>
                    <a:cubicBezTo>
                      <a:pt x="793755" y="90882"/>
                      <a:pt x="712517" y="14398"/>
                      <a:pt x="612162" y="3476"/>
                    </a:cubicBezTo>
                    <a:cubicBezTo>
                      <a:pt x="550612" y="-3151"/>
                      <a:pt x="491155" y="14267"/>
                      <a:pt x="444750" y="52829"/>
                    </a:cubicBezTo>
                    <a:cubicBezTo>
                      <a:pt x="432260" y="63204"/>
                      <a:pt x="421096" y="74804"/>
                      <a:pt x="411367" y="87411"/>
                    </a:cubicBezTo>
                    <a:cubicBezTo>
                      <a:pt x="399823" y="73056"/>
                      <a:pt x="386287" y="59925"/>
                      <a:pt x="370977" y="48288"/>
                    </a:cubicBezTo>
                    <a:cubicBezTo>
                      <a:pt x="317614" y="7733"/>
                      <a:pt x="249687" y="-8369"/>
                      <a:pt x="184440" y="4154"/>
                    </a:cubicBezTo>
                    <a:cubicBezTo>
                      <a:pt x="122643" y="16092"/>
                      <a:pt x="67173" y="55954"/>
                      <a:pt x="32223" y="113558"/>
                    </a:cubicBezTo>
                    <a:close/>
                  </a:path>
                </a:pathLst>
              </a:custGeom>
              <a:solidFill>
                <a:srgbClr val="FF3131"/>
              </a:solidFill>
              <a:ln w="28575" cap="sq">
                <a:solidFill>
                  <a:srgbClr val="B12424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1750"/>
                <a:ext cx="660400" cy="552450"/>
              </a:xfrm>
              <a:prstGeom prst="rect">
                <a:avLst/>
              </a:prstGeom>
            </p:spPr>
            <p:txBody>
              <a:bodyPr anchor="ctr" rtlCol="false" tIns="48412" lIns="48412" bIns="48412" rIns="48412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2521027" y="2493207"/>
            <a:ext cx="2636904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FFFFFF">
                    <a:alpha val="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Recuerdos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31183" y="7922212"/>
            <a:ext cx="2051679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>
                    <a:alpha val="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Tarjetas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9942" y="1199515"/>
            <a:ext cx="2980201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>
                    <a:alpha val="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Actividades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56985" y="6002020"/>
            <a:ext cx="2117659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>
                    <a:alpha val="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Bitácora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29067" y="629285"/>
            <a:ext cx="3131675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>
                    <a:alpha val="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Zona Segura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37608" y="8405141"/>
            <a:ext cx="3344499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>
                    <a:alpha val="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Red de apoyo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692559" y="3177738"/>
            <a:ext cx="5451441" cy="2041032"/>
          </a:xfrm>
          <a:prstGeom prst="line">
            <a:avLst/>
          </a:prstGeom>
          <a:ln cap="flat" w="3810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3" id="3"/>
          <p:cNvSpPr/>
          <p:nvPr/>
        </p:nvSpPr>
        <p:spPr>
          <a:xfrm flipV="true">
            <a:off x="4557022" y="5143500"/>
            <a:ext cx="4567928" cy="2893012"/>
          </a:xfrm>
          <a:prstGeom prst="line">
            <a:avLst/>
          </a:prstGeom>
          <a:ln cap="flat" w="38100">
            <a:gradFill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>
            <a:off x="9124950" y="5218769"/>
            <a:ext cx="5690864" cy="897551"/>
          </a:xfrm>
          <a:prstGeom prst="line">
            <a:avLst/>
          </a:prstGeom>
          <a:ln cap="flat" w="38100">
            <a:gradFill>
              <a:gsLst>
                <a:gs pos="0">
                  <a:srgbClr val="FFDA6A">
                    <a:alpha val="100000"/>
                  </a:srgbClr>
                </a:gs>
                <a:gs pos="100000">
                  <a:srgbClr val="FFF7DE">
                    <a:alpha val="100000"/>
                  </a:srgbClr>
                </a:gs>
              </a:gsLst>
              <a:lin ang="540000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V="true">
            <a:off x="9124950" y="1884045"/>
            <a:ext cx="3495516" cy="3334725"/>
          </a:xfrm>
          <a:prstGeom prst="line">
            <a:avLst/>
          </a:prstGeom>
          <a:ln cap="flat" w="38100">
            <a:gradFill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9144000" y="5903500"/>
            <a:ext cx="2465857" cy="2615941"/>
          </a:xfrm>
          <a:prstGeom prst="line">
            <a:avLst/>
          </a:prstGeom>
          <a:ln cap="flat" w="38100">
            <a:gradFill>
              <a:gsLst>
                <a:gs pos="0">
                  <a:srgbClr val="EB4B3F">
                    <a:alpha val="100000"/>
                  </a:srgbClr>
                </a:gs>
                <a:gs pos="100000">
                  <a:srgbClr val="F0945B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>
            <a:off x="6894904" y="1313815"/>
            <a:ext cx="2249096" cy="3045927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7600950" y="360045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72793" y="3750989"/>
            <a:ext cx="2942413" cy="2935561"/>
            <a:chOff x="0" y="0"/>
            <a:chExt cx="3923218" cy="39140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7933" y="947277"/>
              <a:ext cx="3027351" cy="2966804"/>
            </a:xfrm>
            <a:custGeom>
              <a:avLst/>
              <a:gdLst/>
              <a:ahLst/>
              <a:cxnLst/>
              <a:rect r="r" b="b" t="t" l="l"/>
              <a:pathLst>
                <a:path h="2966804" w="3027351">
                  <a:moveTo>
                    <a:pt x="0" y="0"/>
                  </a:moveTo>
                  <a:lnTo>
                    <a:pt x="3027351" y="0"/>
                  </a:lnTo>
                  <a:lnTo>
                    <a:pt x="3027351" y="2966805"/>
                  </a:lnTo>
                  <a:lnTo>
                    <a:pt x="0" y="2966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3923218" cy="2218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22"/>
                </a:lnSpc>
              </a:pPr>
              <a:r>
                <a:rPr lang="en-US" sz="4444">
                  <a:solidFill>
                    <a:srgbClr val="FFFFFF"/>
                  </a:solidFill>
                  <a:latin typeface="Frankfurter Medium"/>
                  <a:ea typeface="Frankfurter Medium"/>
                  <a:cs typeface="Frankfurter Medium"/>
                  <a:sym typeface="Frankfurter Medium"/>
                </a:rPr>
                <a:t>Remember You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1704894" y="1752144"/>
              <a:ext cx="468336" cy="409794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32223" y="113558"/>
                    </a:moveTo>
                    <a:cubicBezTo>
                      <a:pt x="-33680" y="222131"/>
                      <a:pt x="12749" y="327809"/>
                      <a:pt x="71096" y="383897"/>
                    </a:cubicBezTo>
                    <a:lnTo>
                      <a:pt x="412247" y="711200"/>
                    </a:lnTo>
                    <a:lnTo>
                      <a:pt x="746197" y="385067"/>
                    </a:lnTo>
                    <a:cubicBezTo>
                      <a:pt x="800465" y="324730"/>
                      <a:pt x="821266" y="260730"/>
                      <a:pt x="809713" y="189465"/>
                    </a:cubicBezTo>
                    <a:cubicBezTo>
                      <a:pt x="793755" y="90882"/>
                      <a:pt x="712517" y="14398"/>
                      <a:pt x="612162" y="3476"/>
                    </a:cubicBezTo>
                    <a:cubicBezTo>
                      <a:pt x="550612" y="-3151"/>
                      <a:pt x="491155" y="14267"/>
                      <a:pt x="444750" y="52829"/>
                    </a:cubicBezTo>
                    <a:cubicBezTo>
                      <a:pt x="432260" y="63204"/>
                      <a:pt x="421096" y="74804"/>
                      <a:pt x="411367" y="87411"/>
                    </a:cubicBezTo>
                    <a:cubicBezTo>
                      <a:pt x="399823" y="73056"/>
                      <a:pt x="386287" y="59925"/>
                      <a:pt x="370977" y="48288"/>
                    </a:cubicBezTo>
                    <a:cubicBezTo>
                      <a:pt x="317614" y="7733"/>
                      <a:pt x="249687" y="-8369"/>
                      <a:pt x="184440" y="4154"/>
                    </a:cubicBezTo>
                    <a:cubicBezTo>
                      <a:pt x="122643" y="16092"/>
                      <a:pt x="67173" y="55954"/>
                      <a:pt x="32223" y="113558"/>
                    </a:cubicBezTo>
                    <a:close/>
                  </a:path>
                </a:pathLst>
              </a:custGeom>
              <a:solidFill>
                <a:srgbClr val="FF3131"/>
              </a:solidFill>
              <a:ln w="28575" cap="sq">
                <a:solidFill>
                  <a:srgbClr val="B12424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1750"/>
                <a:ext cx="660400" cy="552450"/>
              </a:xfrm>
              <a:prstGeom prst="rect">
                <a:avLst/>
              </a:prstGeom>
            </p:spPr>
            <p:txBody>
              <a:bodyPr anchor="ctr" rtlCol="false" tIns="48412" lIns="48412" bIns="48412" rIns="48412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2521027" y="2493207"/>
            <a:ext cx="2636904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Recuerdos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31183" y="7922212"/>
            <a:ext cx="2051679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Tarjetas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9942" y="1199515"/>
            <a:ext cx="2980201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Actividades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56985" y="6002020"/>
            <a:ext cx="2117659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Bitácora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29067" y="629285"/>
            <a:ext cx="3131675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Zona Segura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37608" y="8405141"/>
            <a:ext cx="3344499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Red de apoyo</a:t>
            </a:r>
          </a:p>
        </p:txBody>
      </p:sp>
    </p:spTree>
  </p:cSld>
  <p:clrMapOvr>
    <a:masterClrMapping/>
  </p:clrMapOvr>
  <p:transition spd="slow">
    <p:circl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82206" y="3681706"/>
            <a:ext cx="2923589" cy="2923589"/>
          </a:xfrm>
          <a:custGeom>
            <a:avLst/>
            <a:gdLst/>
            <a:ahLst/>
            <a:cxnLst/>
            <a:rect r="r" b="b" t="t" l="l"/>
            <a:pathLst>
              <a:path h="2923589" w="2923589">
                <a:moveTo>
                  <a:pt x="0" y="0"/>
                </a:moveTo>
                <a:lnTo>
                  <a:pt x="2923588" y="0"/>
                </a:lnTo>
                <a:lnTo>
                  <a:pt x="2923588" y="2923588"/>
                </a:lnTo>
                <a:lnTo>
                  <a:pt x="0" y="2923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59091" y="3681706"/>
            <a:ext cx="2923589" cy="2923589"/>
          </a:xfrm>
          <a:custGeom>
            <a:avLst/>
            <a:gdLst/>
            <a:ahLst/>
            <a:cxnLst/>
            <a:rect r="r" b="b" t="t" l="l"/>
            <a:pathLst>
              <a:path h="2923589" w="2923589">
                <a:moveTo>
                  <a:pt x="0" y="0"/>
                </a:moveTo>
                <a:lnTo>
                  <a:pt x="2923589" y="0"/>
                </a:lnTo>
                <a:lnTo>
                  <a:pt x="2923589" y="2923588"/>
                </a:lnTo>
                <a:lnTo>
                  <a:pt x="0" y="2923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8280" y="3681706"/>
            <a:ext cx="2923589" cy="2923589"/>
          </a:xfrm>
          <a:custGeom>
            <a:avLst/>
            <a:gdLst/>
            <a:ahLst/>
            <a:cxnLst/>
            <a:rect r="r" b="b" t="t" l="l"/>
            <a:pathLst>
              <a:path h="2923589" w="2923589">
                <a:moveTo>
                  <a:pt x="0" y="0"/>
                </a:moveTo>
                <a:lnTo>
                  <a:pt x="2923588" y="0"/>
                </a:lnTo>
                <a:lnTo>
                  <a:pt x="2923588" y="2923588"/>
                </a:lnTo>
                <a:lnTo>
                  <a:pt x="0" y="2923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90011" y="2851875"/>
            <a:ext cx="3107978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Master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48875" y="2851875"/>
            <a:ext cx="454402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de Desarrollo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8064" y="2851875"/>
            <a:ext cx="454402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de Desarrollo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27176" y="6538619"/>
            <a:ext cx="2185800" cy="40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  <a:spcBef>
                <a:spcPct val="0"/>
              </a:spcBef>
            </a:pPr>
            <a:r>
              <a:rPr lang="en-US" b="true" sz="22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Diego Venegas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18249" y="6536195"/>
            <a:ext cx="2451503" cy="40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  <a:spcBef>
                <a:spcPct val="0"/>
              </a:spcBef>
            </a:pPr>
            <a:r>
              <a:rPr lang="en-US" b="true" sz="22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Matías Sandoval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0859" y="6538619"/>
            <a:ext cx="1880053" cy="40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  <a:spcBef>
                <a:spcPct val="0"/>
              </a:spcBef>
            </a:pPr>
            <a:r>
              <a:rPr lang="en-US" b="true" sz="22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Danilo Luque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75633" y="876300"/>
            <a:ext cx="9136735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Equipo Remember You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58086" y="771525"/>
            <a:ext cx="5571827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60348" y="3077205"/>
            <a:ext cx="11567304" cy="401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Módulos clave: tarjetas/recordatorios, bitácora, juegos cognitivos (memorice, puzzle, sudoku, camino correcto), perfil y red de apoyo.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Funciones de seguridad: zonas seguras, alertas por salida y geolocalización del paciente .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9072" y="771525"/>
            <a:ext cx="4329857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Limites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60348" y="2573009"/>
            <a:ext cx="11567304" cy="668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es herramienta de diagnóstico médico, solo apoyo y acompañamiento.</a:t>
            </a:r>
          </a:p>
          <a:p>
            <a:pPr algn="ctr">
              <a:lnSpc>
                <a:spcPts val="5319"/>
              </a:lnSpc>
            </a:pP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Integración con hardware se considera solamente a nivel de prototipo / concepto.</a:t>
            </a:r>
          </a:p>
          <a:p>
            <a:pPr algn="ctr">
              <a:lnSpc>
                <a:spcPts val="5319"/>
              </a:lnSpc>
            </a:pP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Depende del uso responsable del cuidador y de la conectividad (GPS / datos), por lo que no garantiza seguridad total del paciente.</a:t>
            </a:r>
          </a:p>
          <a:p>
            <a:pPr algn="ctr">
              <a:lnSpc>
                <a:spcPts val="531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25814" y="2868946"/>
            <a:ext cx="7636372" cy="390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3"/>
              </a:lnSpc>
            </a:pPr>
            <a:r>
              <a:rPr lang="en-US" sz="22845">
                <a:solidFill>
                  <a:srgbClr val="478000"/>
                </a:solidFill>
                <a:latin typeface="Anton"/>
                <a:ea typeface="Anton"/>
                <a:cs typeface="Anton"/>
                <a:sym typeface="Anton"/>
              </a:rPr>
              <a:t>SCRUM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25814" y="3054453"/>
            <a:ext cx="7198687" cy="41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231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Metodología de trabajo para el desarrollo del proyecto...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4259" y="2671344"/>
            <a:ext cx="13639482" cy="4944312"/>
          </a:xfrm>
          <a:custGeom>
            <a:avLst/>
            <a:gdLst/>
            <a:ahLst/>
            <a:cxnLst/>
            <a:rect r="r" b="b" t="t" l="l"/>
            <a:pathLst>
              <a:path h="4944312" w="13639482">
                <a:moveTo>
                  <a:pt x="0" y="0"/>
                </a:moveTo>
                <a:lnTo>
                  <a:pt x="13639482" y="0"/>
                </a:lnTo>
                <a:lnTo>
                  <a:pt x="13639482" y="4944312"/>
                </a:lnTo>
                <a:lnTo>
                  <a:pt x="0" y="4944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55527"/>
            <a:ext cx="16634622" cy="8296518"/>
          </a:xfrm>
          <a:custGeom>
            <a:avLst/>
            <a:gdLst/>
            <a:ahLst/>
            <a:cxnLst/>
            <a:rect r="r" b="b" t="t" l="l"/>
            <a:pathLst>
              <a:path h="8296518" w="16634622">
                <a:moveTo>
                  <a:pt x="0" y="0"/>
                </a:moveTo>
                <a:lnTo>
                  <a:pt x="16634622" y="0"/>
                </a:lnTo>
                <a:lnTo>
                  <a:pt x="16634622" y="8296518"/>
                </a:lnTo>
                <a:lnTo>
                  <a:pt x="0" y="8296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355192" y="73978"/>
            <a:ext cx="6951662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Carta Gantt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-376593" y="5752555"/>
            <a:ext cx="968661" cy="8111706"/>
            <a:chOff x="0" y="0"/>
            <a:chExt cx="255121" cy="2136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07363" y="2728597"/>
            <a:ext cx="17273274" cy="459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b="true" sz="8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Arquitectura de software-Cliente Servidor-modelo base de datos</a:t>
            </a:r>
          </a:p>
        </p:txBody>
      </p:sp>
      <p:grpSp>
        <p:nvGrpSpPr>
          <p:cNvPr name="Group 6" id="6"/>
          <p:cNvGrpSpPr/>
          <p:nvPr/>
        </p:nvGrpSpPr>
        <p:grpSpPr>
          <a:xfrm rot="-2700000">
            <a:off x="706687" y="5202447"/>
            <a:ext cx="968661" cy="8111706"/>
            <a:chOff x="0" y="0"/>
            <a:chExt cx="255121" cy="21364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700000">
            <a:off x="1795344" y="4642745"/>
            <a:ext cx="968661" cy="8111706"/>
            <a:chOff x="0" y="0"/>
            <a:chExt cx="255121" cy="2136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6247653" y="-3351943"/>
            <a:ext cx="968661" cy="8111706"/>
            <a:chOff x="0" y="0"/>
            <a:chExt cx="255121" cy="2136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40821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2" y="0"/>
                </a:lnTo>
                <a:lnTo>
                  <a:pt x="183696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2700000">
            <a:off x="-376593" y="5752555"/>
            <a:ext cx="968661" cy="8111706"/>
            <a:chOff x="0" y="0"/>
            <a:chExt cx="255121" cy="2136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706687" y="5202447"/>
            <a:ext cx="968661" cy="8111706"/>
            <a:chOff x="0" y="0"/>
            <a:chExt cx="255121" cy="21364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700000">
            <a:off x="1795344" y="4642745"/>
            <a:ext cx="968661" cy="8111706"/>
            <a:chOff x="0" y="0"/>
            <a:chExt cx="255121" cy="21364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700000">
            <a:off x="17558475" y="-3724776"/>
            <a:ext cx="968661" cy="8111706"/>
            <a:chOff x="0" y="0"/>
            <a:chExt cx="255121" cy="21364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59369" cy="11727047"/>
          </a:xfrm>
          <a:custGeom>
            <a:avLst/>
            <a:gdLst/>
            <a:ahLst/>
            <a:cxnLst/>
            <a:rect r="r" b="b" t="t" l="l"/>
            <a:pathLst>
              <a:path h="11727047" w="18359369">
                <a:moveTo>
                  <a:pt x="0" y="0"/>
                </a:moveTo>
                <a:lnTo>
                  <a:pt x="18359369" y="0"/>
                </a:lnTo>
                <a:lnTo>
                  <a:pt x="18359369" y="11727047"/>
                </a:lnTo>
                <a:lnTo>
                  <a:pt x="0" y="11727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00000">
            <a:off x="-376593" y="5752555"/>
            <a:ext cx="968661" cy="8111706"/>
            <a:chOff x="0" y="0"/>
            <a:chExt cx="255121" cy="21364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700000">
            <a:off x="706687" y="5202447"/>
            <a:ext cx="968661" cy="8111706"/>
            <a:chOff x="0" y="0"/>
            <a:chExt cx="255121" cy="2136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1795344" y="4642745"/>
            <a:ext cx="968661" cy="8111706"/>
            <a:chOff x="0" y="0"/>
            <a:chExt cx="255121" cy="21364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51" t="0" r="-725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00000">
            <a:off x="-376593" y="5752555"/>
            <a:ext cx="968661" cy="8111706"/>
            <a:chOff x="0" y="0"/>
            <a:chExt cx="255121" cy="21364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700000">
            <a:off x="706687" y="5202447"/>
            <a:ext cx="968661" cy="8111706"/>
            <a:chOff x="0" y="0"/>
            <a:chExt cx="255121" cy="2136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8677"/>
            <a:ext cx="18288000" cy="9812251"/>
          </a:xfrm>
          <a:custGeom>
            <a:avLst/>
            <a:gdLst/>
            <a:ahLst/>
            <a:cxnLst/>
            <a:rect r="r" b="b" t="t" l="l"/>
            <a:pathLst>
              <a:path h="9812251" w="18288000">
                <a:moveTo>
                  <a:pt x="0" y="0"/>
                </a:moveTo>
                <a:lnTo>
                  <a:pt x="18288000" y="0"/>
                </a:lnTo>
                <a:lnTo>
                  <a:pt x="18288000" y="9812251"/>
                </a:lnTo>
                <a:lnTo>
                  <a:pt x="0" y="9812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48" t="0" r="-2355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00000">
            <a:off x="-376593" y="5752555"/>
            <a:ext cx="968661" cy="8111706"/>
            <a:chOff x="0" y="0"/>
            <a:chExt cx="255121" cy="21364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700000">
            <a:off x="706687" y="5202447"/>
            <a:ext cx="968661" cy="8111706"/>
            <a:chOff x="0" y="0"/>
            <a:chExt cx="255121" cy="2136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-376593" y="5752555"/>
            <a:ext cx="968661" cy="8111706"/>
            <a:chOff x="0" y="0"/>
            <a:chExt cx="255121" cy="2136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706687" y="5202447"/>
            <a:ext cx="968661" cy="8111706"/>
            <a:chOff x="0" y="0"/>
            <a:chExt cx="255121" cy="2136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2916082"/>
            <a:ext cx="18288000" cy="4454837"/>
          </a:xfrm>
          <a:custGeom>
            <a:avLst/>
            <a:gdLst/>
            <a:ahLst/>
            <a:cxnLst/>
            <a:rect r="r" b="b" t="t" l="l"/>
            <a:pathLst>
              <a:path h="4454837" w="18288000">
                <a:moveTo>
                  <a:pt x="0" y="0"/>
                </a:moveTo>
                <a:lnTo>
                  <a:pt x="18288000" y="0"/>
                </a:lnTo>
                <a:lnTo>
                  <a:pt x="18288000" y="4454836"/>
                </a:lnTo>
                <a:lnTo>
                  <a:pt x="0" y="4454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51" t="-3092" r="-4767" b="-132048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7406075" y="-3877176"/>
            <a:ext cx="968661" cy="8111706"/>
            <a:chOff x="0" y="0"/>
            <a:chExt cx="255121" cy="2136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-376593" y="5752555"/>
            <a:ext cx="968661" cy="8111706"/>
            <a:chOff x="0" y="0"/>
            <a:chExt cx="255121" cy="2136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3998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706687" y="5202447"/>
            <a:ext cx="968661" cy="8111706"/>
            <a:chOff x="0" y="0"/>
            <a:chExt cx="255121" cy="2136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121" cy="2136416"/>
            </a:xfrm>
            <a:custGeom>
              <a:avLst/>
              <a:gdLst/>
              <a:ahLst/>
              <a:cxnLst/>
              <a:rect r="r" b="b" t="t" l="l"/>
              <a:pathLst>
                <a:path h="2136416" w="255121">
                  <a:moveTo>
                    <a:pt x="0" y="0"/>
                  </a:moveTo>
                  <a:lnTo>
                    <a:pt x="255121" y="0"/>
                  </a:lnTo>
                  <a:lnTo>
                    <a:pt x="255121" y="2136416"/>
                  </a:lnTo>
                  <a:lnTo>
                    <a:pt x="0" y="2136416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55121" cy="2203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735615" y="2408768"/>
            <a:ext cx="10944396" cy="5855972"/>
          </a:xfrm>
          <a:custGeom>
            <a:avLst/>
            <a:gdLst/>
            <a:ahLst/>
            <a:cxnLst/>
            <a:rect r="r" b="b" t="t" l="l"/>
            <a:pathLst>
              <a:path h="5855972" w="10944396">
                <a:moveTo>
                  <a:pt x="0" y="0"/>
                </a:moveTo>
                <a:lnTo>
                  <a:pt x="10944396" y="0"/>
                </a:lnTo>
                <a:lnTo>
                  <a:pt x="10944396" y="5855972"/>
                </a:lnTo>
                <a:lnTo>
                  <a:pt x="0" y="585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6969" b="-41801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48000" cy="10287000"/>
            <a:chOff x="0" y="0"/>
            <a:chExt cx="64221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48000" y="0"/>
            <a:ext cx="3048000" cy="10287000"/>
            <a:chOff x="0" y="0"/>
            <a:chExt cx="642212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96000" y="0"/>
            <a:ext cx="3048000" cy="10287000"/>
            <a:chOff x="0" y="0"/>
            <a:chExt cx="642212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0"/>
            <a:ext cx="3048000" cy="10287000"/>
            <a:chOff x="0" y="0"/>
            <a:chExt cx="642212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2000" y="0"/>
            <a:ext cx="3048000" cy="10287000"/>
            <a:chOff x="0" y="0"/>
            <a:chExt cx="642212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5C6FF4">
                    <a:alpha val="100000"/>
                  </a:srgbClr>
                </a:gs>
                <a:gs pos="100000">
                  <a:srgbClr val="E870C2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40000" y="0"/>
            <a:ext cx="3048000" cy="10287000"/>
            <a:chOff x="0" y="0"/>
            <a:chExt cx="642212" cy="21674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1057" y="5481948"/>
            <a:ext cx="2925886" cy="5000909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09057" y="5481948"/>
            <a:ext cx="2925886" cy="5000909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157057" y="5481948"/>
            <a:ext cx="2925886" cy="5000909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03508" y="5481948"/>
            <a:ext cx="2925886" cy="5000909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51508" y="5481948"/>
            <a:ext cx="2925886" cy="5000909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01057" y="5481948"/>
            <a:ext cx="2925886" cy="5000909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-5400000">
            <a:off x="-762170" y="2667170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2188686" y="2667170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5189354" y="2619837"/>
            <a:ext cx="4706999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8285633" y="2667164"/>
            <a:ext cx="4612334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11237418" y="257249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14286967" y="257249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668775" cy="10287000"/>
            <a:chOff x="0" y="0"/>
            <a:chExt cx="224790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7906" cy="2167467"/>
            </a:xfrm>
            <a:custGeom>
              <a:avLst/>
              <a:gdLst/>
              <a:ahLst/>
              <a:cxnLst/>
              <a:rect r="r" b="b" t="t" l="l"/>
              <a:pathLst>
                <a:path h="2167467" w="2247906">
                  <a:moveTo>
                    <a:pt x="0" y="0"/>
                  </a:moveTo>
                  <a:lnTo>
                    <a:pt x="2247906" y="0"/>
                  </a:lnTo>
                  <a:lnTo>
                    <a:pt x="224790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47906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68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2000" y="0"/>
            <a:ext cx="1524000" cy="10287000"/>
            <a:chOff x="0" y="0"/>
            <a:chExt cx="642212" cy="4334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16000" y="0"/>
            <a:ext cx="1524000" cy="10287000"/>
            <a:chOff x="0" y="0"/>
            <a:chExt cx="642212" cy="4334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40000" y="0"/>
            <a:ext cx="1524000" cy="10287000"/>
            <a:chOff x="0" y="0"/>
            <a:chExt cx="642212" cy="4334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C6FF4">
                    <a:alpha val="100000"/>
                  </a:srgbClr>
                </a:gs>
                <a:gs pos="100000">
                  <a:srgbClr val="E870C2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78338" y="1713505"/>
            <a:ext cx="4815535" cy="8230686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98529" y="7884474"/>
            <a:ext cx="1462943" cy="2500454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22529" y="7884474"/>
            <a:ext cx="1462943" cy="2500454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746529" y="7884474"/>
            <a:ext cx="1462943" cy="2500454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69754" y="7884474"/>
            <a:ext cx="1462943" cy="2500454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-5400000">
            <a:off x="10238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1738677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3286817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14762709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990364" y="6160837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0" y="0"/>
            <a:ext cx="10668000" cy="10287000"/>
            <a:chOff x="0" y="0"/>
            <a:chExt cx="4495486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486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5486">
                  <a:moveTo>
                    <a:pt x="0" y="0"/>
                  </a:moveTo>
                  <a:lnTo>
                    <a:pt x="4495486" y="0"/>
                  </a:lnTo>
                  <a:lnTo>
                    <a:pt x="4495486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95486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92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716000" y="0"/>
            <a:ext cx="1524000" cy="10287000"/>
            <a:chOff x="0" y="0"/>
            <a:chExt cx="642212" cy="4334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40000" y="0"/>
            <a:ext cx="1524000" cy="10287000"/>
            <a:chOff x="0" y="0"/>
            <a:chExt cx="642212" cy="4334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C6FF4">
                    <a:alpha val="100000"/>
                  </a:srgbClr>
                </a:gs>
                <a:gs pos="100000">
                  <a:srgbClr val="E870C2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22529" y="7884474"/>
            <a:ext cx="1462943" cy="2500454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46529" y="7884474"/>
            <a:ext cx="1462943" cy="2500454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69754" y="7884474"/>
            <a:ext cx="1462943" cy="2500454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50233" y="1713505"/>
            <a:ext cx="4815535" cy="8230686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-5400000">
            <a:off x="11738677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3286817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4762709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2162259" y="6160837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8000" y="0"/>
            <a:ext cx="10668000" cy="10287000"/>
            <a:chOff x="0" y="0"/>
            <a:chExt cx="4495486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486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5486">
                  <a:moveTo>
                    <a:pt x="0" y="0"/>
                  </a:moveTo>
                  <a:lnTo>
                    <a:pt x="4495486" y="0"/>
                  </a:lnTo>
                  <a:lnTo>
                    <a:pt x="4495486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95486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16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40000" y="0"/>
            <a:ext cx="1524000" cy="10287000"/>
            <a:chOff x="0" y="0"/>
            <a:chExt cx="642212" cy="4334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C6FF4">
                    <a:alpha val="100000"/>
                  </a:srgbClr>
                </a:gs>
                <a:gs pos="100000">
                  <a:srgbClr val="E870C2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746529" y="7884474"/>
            <a:ext cx="1462943" cy="2500454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69754" y="7884474"/>
            <a:ext cx="1462943" cy="2500454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 rot="0">
            <a:off x="1524000" y="0"/>
            <a:ext cx="1524000" cy="10287000"/>
            <a:chOff x="0" y="0"/>
            <a:chExt cx="642212" cy="43349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54529" y="7884474"/>
            <a:ext cx="1462943" cy="2500454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74233" y="1713505"/>
            <a:ext cx="4815535" cy="8230686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-5400000">
            <a:off x="13286817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4762709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1094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3638927" y="6113504"/>
            <a:ext cx="4706999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1225" y="0"/>
            <a:ext cx="10668775" cy="10287000"/>
            <a:chOff x="0" y="0"/>
            <a:chExt cx="4495813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813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5813">
                  <a:moveTo>
                    <a:pt x="0" y="0"/>
                  </a:moveTo>
                  <a:lnTo>
                    <a:pt x="4495813" y="0"/>
                  </a:lnTo>
                  <a:lnTo>
                    <a:pt x="4495813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95813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40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C6FF4">
                    <a:alpha val="100000"/>
                  </a:srgbClr>
                </a:gs>
                <a:gs pos="100000">
                  <a:srgbClr val="E870C2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269754" y="7884474"/>
            <a:ext cx="1462943" cy="250045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-5400000">
            <a:off x="14762709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24000" y="0"/>
            <a:ext cx="1524000" cy="10287000"/>
            <a:chOff x="0" y="0"/>
            <a:chExt cx="642212" cy="4334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54529" y="7884474"/>
            <a:ext cx="1462943" cy="2500454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-5400000">
            <a:off x="1094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047225" y="0"/>
            <a:ext cx="1524000" cy="10287000"/>
            <a:chOff x="0" y="0"/>
            <a:chExt cx="642212" cy="4334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77754" y="7884474"/>
            <a:ext cx="1462943" cy="25004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-5400000">
            <a:off x="2593902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97846" y="1713505"/>
            <a:ext cx="4815535" cy="8230686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-5400000">
            <a:off x="5209866" y="6160831"/>
            <a:ext cx="4612334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4451" y="0"/>
            <a:ext cx="10669549" cy="10287000"/>
            <a:chOff x="0" y="0"/>
            <a:chExt cx="4496139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140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6140">
                  <a:moveTo>
                    <a:pt x="0" y="0"/>
                  </a:moveTo>
                  <a:lnTo>
                    <a:pt x="4496140" y="0"/>
                  </a:lnTo>
                  <a:lnTo>
                    <a:pt x="4496140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C6FF4">
                    <a:alpha val="100000"/>
                  </a:srgbClr>
                </a:gs>
                <a:gs pos="100000">
                  <a:srgbClr val="E870C2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96139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6400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94529" y="7884474"/>
            <a:ext cx="1462943" cy="250045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-5400000">
            <a:off x="1628748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24000" y="0"/>
            <a:ext cx="1524000" cy="10287000"/>
            <a:chOff x="0" y="0"/>
            <a:chExt cx="642212" cy="4334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54529" y="7884474"/>
            <a:ext cx="1462943" cy="2500454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-5400000">
            <a:off x="1094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48000" y="0"/>
            <a:ext cx="1524000" cy="10287000"/>
            <a:chOff x="0" y="0"/>
            <a:chExt cx="642212" cy="4334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78529" y="7884474"/>
            <a:ext cx="1462943" cy="2500454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-5400000">
            <a:off x="2594677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571225" y="0"/>
            <a:ext cx="1524000" cy="10287000"/>
            <a:chOff x="0" y="0"/>
            <a:chExt cx="642212" cy="4334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01754" y="7884474"/>
            <a:ext cx="1462943" cy="25004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-5400000">
            <a:off x="4142042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21458" y="1713505"/>
            <a:ext cx="4815535" cy="8230686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-5400000">
            <a:off x="6667145" y="6066166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19225" y="0"/>
            <a:ext cx="10668775" cy="10287000"/>
            <a:chOff x="0" y="0"/>
            <a:chExt cx="4495813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5813" cy="4334933"/>
            </a:xfrm>
            <a:custGeom>
              <a:avLst/>
              <a:gdLst/>
              <a:ahLst/>
              <a:cxnLst/>
              <a:rect r="r" b="b" t="t" l="l"/>
              <a:pathLst>
                <a:path h="4334933" w="4495813">
                  <a:moveTo>
                    <a:pt x="0" y="0"/>
                  </a:moveTo>
                  <a:lnTo>
                    <a:pt x="4495813" y="0"/>
                  </a:lnTo>
                  <a:lnTo>
                    <a:pt x="4495813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95813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524000" cy="10287000"/>
            <a:chOff x="0" y="0"/>
            <a:chExt cx="642212" cy="4334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0529" y="7884474"/>
            <a:ext cx="1462943" cy="250045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-5400000">
            <a:off x="-381085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24000" y="0"/>
            <a:ext cx="1524000" cy="10287000"/>
            <a:chOff x="0" y="0"/>
            <a:chExt cx="642212" cy="4334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4529" y="7884474"/>
            <a:ext cx="1462943" cy="250045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-5400000">
            <a:off x="1094343" y="6477085"/>
            <a:ext cx="2306167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48000" y="0"/>
            <a:ext cx="1524000" cy="10287000"/>
            <a:chOff x="0" y="0"/>
            <a:chExt cx="642212" cy="4334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78529" y="7884474"/>
            <a:ext cx="1462943" cy="2500454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-5400000">
            <a:off x="2594677" y="6453419"/>
            <a:ext cx="2353500" cy="66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571225" y="0"/>
            <a:ext cx="1524000" cy="10287000"/>
            <a:chOff x="0" y="0"/>
            <a:chExt cx="642212" cy="4334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01754" y="7884474"/>
            <a:ext cx="1462943" cy="2500454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-5400000">
            <a:off x="4142042" y="6477082"/>
            <a:ext cx="2306167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095225" y="0"/>
            <a:ext cx="1524000" cy="10287000"/>
            <a:chOff x="0" y="0"/>
            <a:chExt cx="642212" cy="4334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212" cy="4334933"/>
            </a:xfrm>
            <a:custGeom>
              <a:avLst/>
              <a:gdLst/>
              <a:ahLst/>
              <a:cxnLst/>
              <a:rect r="r" b="b" t="t" l="l"/>
              <a:pathLst>
                <a:path h="4334933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642212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24979" y="7884474"/>
            <a:ext cx="1462943" cy="25004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-5400000">
            <a:off x="5617934" y="6429749"/>
            <a:ext cx="2400833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45846" y="1713505"/>
            <a:ext cx="4815535" cy="8230686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-5400000">
            <a:off x="8191145" y="6066166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48000" cy="10287000"/>
            <a:chOff x="0" y="0"/>
            <a:chExt cx="64221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FF9869">
                    <a:alpha val="100000"/>
                  </a:srgbClr>
                </a:gs>
                <a:gs pos="100000">
                  <a:srgbClr val="FFD2BD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48000" y="0"/>
            <a:ext cx="3048000" cy="10287000"/>
            <a:chOff x="0" y="0"/>
            <a:chExt cx="642212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96000" y="0"/>
            <a:ext cx="3048000" cy="10287000"/>
            <a:chOff x="0" y="0"/>
            <a:chExt cx="642212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0"/>
            <a:ext cx="3048000" cy="10287000"/>
            <a:chOff x="0" y="0"/>
            <a:chExt cx="642212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4898AB">
                    <a:alpha val="100000"/>
                  </a:srgbClr>
                </a:gs>
                <a:gs pos="100000">
                  <a:srgbClr val="90D46C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2000" y="0"/>
            <a:ext cx="3048000" cy="10287000"/>
            <a:chOff x="0" y="0"/>
            <a:chExt cx="642212" cy="2167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40000" y="0"/>
            <a:ext cx="3048000" cy="10287000"/>
            <a:chOff x="0" y="0"/>
            <a:chExt cx="642212" cy="21674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212" cy="2167467"/>
            </a:xfrm>
            <a:custGeom>
              <a:avLst/>
              <a:gdLst/>
              <a:ahLst/>
              <a:cxnLst/>
              <a:rect r="r" b="b" t="t" l="l"/>
              <a:pathLst>
                <a:path h="2167467" w="642212">
                  <a:moveTo>
                    <a:pt x="0" y="0"/>
                  </a:moveTo>
                  <a:lnTo>
                    <a:pt x="642212" y="0"/>
                  </a:lnTo>
                  <a:lnTo>
                    <a:pt x="642212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F19A5C">
                    <a:alpha val="100000"/>
                  </a:srgbClr>
                </a:gs>
                <a:gs pos="100000">
                  <a:srgbClr val="F9DB6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42212" cy="223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1057" y="5481948"/>
            <a:ext cx="2925886" cy="5000909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09057" y="5481948"/>
            <a:ext cx="2925886" cy="5000909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157057" y="5481948"/>
            <a:ext cx="2925886" cy="5000909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03508" y="5481948"/>
            <a:ext cx="2925886" cy="5000909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51508" y="5481948"/>
            <a:ext cx="2925886" cy="5000909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01057" y="5481948"/>
            <a:ext cx="2925886" cy="5000909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-5400000">
            <a:off x="-762170" y="2667170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Welcome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2188686" y="2667170"/>
            <a:ext cx="4612334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5189354" y="2619837"/>
            <a:ext cx="4706999" cy="13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Actividades</a:t>
            </a:r>
          </a:p>
        </p:txBody>
      </p:sp>
      <p:sp>
        <p:nvSpPr>
          <p:cNvPr name="TextBox 29" id="29"/>
          <p:cNvSpPr txBox="true"/>
          <p:nvPr/>
        </p:nvSpPr>
        <p:spPr>
          <a:xfrm rot="-5400000">
            <a:off x="8285633" y="2667164"/>
            <a:ext cx="4612334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Tarjetas</a:t>
            </a:r>
          </a:p>
        </p:txBody>
      </p:sp>
      <p:sp>
        <p:nvSpPr>
          <p:cNvPr name="TextBox 30" id="30"/>
          <p:cNvSpPr txBox="true"/>
          <p:nvPr/>
        </p:nvSpPr>
        <p:spPr>
          <a:xfrm rot="-5400000">
            <a:off x="11237418" y="257249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Recuerdos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14286967" y="257249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Bitácora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7706548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06548" cy="4334933"/>
            </a:xfrm>
            <a:custGeom>
              <a:avLst/>
              <a:gdLst/>
              <a:ahLst/>
              <a:cxnLst/>
              <a:rect r="r" b="b" t="t" l="l"/>
              <a:pathLst>
                <a:path h="4334933" w="7706548">
                  <a:moveTo>
                    <a:pt x="0" y="0"/>
                  </a:moveTo>
                  <a:lnTo>
                    <a:pt x="7706548" y="0"/>
                  </a:lnTo>
                  <a:lnTo>
                    <a:pt x="7706548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706548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36233" y="1149169"/>
            <a:ext cx="4815535" cy="823068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-5400000">
            <a:off x="4353588" y="528682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Logros</a:t>
            </a:r>
          </a:p>
        </p:txBody>
      </p:sp>
    </p:spTree>
  </p:cSld>
  <p:clrMapOvr>
    <a:masterClrMapping/>
  </p:clrMapOvr>
  <p:transition spd="slow">
    <p:push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7706548" cy="4334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06548" cy="4334933"/>
            </a:xfrm>
            <a:custGeom>
              <a:avLst/>
              <a:gdLst/>
              <a:ahLst/>
              <a:cxnLst/>
              <a:rect r="r" b="b" t="t" l="l"/>
              <a:pathLst>
                <a:path h="4334933" w="7706548">
                  <a:moveTo>
                    <a:pt x="0" y="0"/>
                  </a:moveTo>
                  <a:lnTo>
                    <a:pt x="7706548" y="0"/>
                  </a:lnTo>
                  <a:lnTo>
                    <a:pt x="7706548" y="4334933"/>
                  </a:lnTo>
                  <a:lnTo>
                    <a:pt x="0" y="4334933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706548" cy="4401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4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36233" y="1149169"/>
            <a:ext cx="4815535" cy="823068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-5400000">
            <a:off x="4353588" y="5286828"/>
            <a:ext cx="4801665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Logros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347686" y="0"/>
            <a:ext cx="9592628" cy="10287000"/>
          </a:xfrm>
          <a:custGeom>
            <a:avLst/>
            <a:gdLst/>
            <a:ahLst/>
            <a:cxnLst/>
            <a:rect r="r" b="b" t="t" l="l"/>
            <a:pathLst>
              <a:path h="10287000" w="9592628">
                <a:moveTo>
                  <a:pt x="0" y="0"/>
                </a:moveTo>
                <a:lnTo>
                  <a:pt x="9592628" y="0"/>
                </a:lnTo>
                <a:lnTo>
                  <a:pt x="9592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32641" y="4904413"/>
            <a:ext cx="2622718" cy="65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0"/>
              </a:lnSpc>
              <a:spcBef>
                <a:spcPct val="0"/>
              </a:spcBef>
            </a:pPr>
            <a:r>
              <a:rPr lang="en-US" b="true" sz="385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CUIDADOR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465894" y="5440612"/>
            <a:ext cx="250775" cy="428624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87019" y="5440612"/>
            <a:ext cx="250775" cy="428624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908069" y="5440612"/>
            <a:ext cx="250775" cy="42862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29120" y="5440612"/>
            <a:ext cx="250775" cy="428624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50171" y="5440612"/>
            <a:ext cx="250775" cy="428624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71330" y="5440612"/>
            <a:ext cx="250775" cy="4286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32133" y="2798733"/>
            <a:ext cx="3427014" cy="585743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889676" y="2798732"/>
            <a:ext cx="3427014" cy="5857433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910476" y="2798732"/>
            <a:ext cx="3427014" cy="5857433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931277" y="2798733"/>
            <a:ext cx="3427014" cy="5857433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952077" y="2798732"/>
            <a:ext cx="3427014" cy="5857433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994309" y="-285750"/>
            <a:ext cx="10299383" cy="260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90"/>
              </a:lnSpc>
              <a:spcBef>
                <a:spcPct val="0"/>
              </a:spcBef>
            </a:pPr>
            <a:r>
              <a:rPr lang="en-US" b="true" sz="15207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CUIDADOR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974352" y="2798733"/>
            <a:ext cx="3427014" cy="5857433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8175"/>
            <a:ext cx="9750846" cy="49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6"/>
              </a:lnSpc>
            </a:pPr>
            <a:r>
              <a:rPr lang="en-US" sz="1374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ExposiciónDemo de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49473" y="3292503"/>
            <a:ext cx="5917927" cy="59179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6719" y="0"/>
                  </a:moveTo>
                  <a:lnTo>
                    <a:pt x="746081" y="0"/>
                  </a:lnTo>
                  <a:cubicBezTo>
                    <a:pt x="763776" y="0"/>
                    <a:pt x="780746" y="7029"/>
                    <a:pt x="793258" y="19542"/>
                  </a:cubicBezTo>
                  <a:cubicBezTo>
                    <a:pt x="805771" y="32054"/>
                    <a:pt x="812800" y="49024"/>
                    <a:pt x="812800" y="66719"/>
                  </a:cubicBezTo>
                  <a:lnTo>
                    <a:pt x="812800" y="746081"/>
                  </a:lnTo>
                  <a:cubicBezTo>
                    <a:pt x="812800" y="763776"/>
                    <a:pt x="805771" y="780746"/>
                    <a:pt x="793258" y="793258"/>
                  </a:cubicBezTo>
                  <a:cubicBezTo>
                    <a:pt x="780746" y="805771"/>
                    <a:pt x="763776" y="812800"/>
                    <a:pt x="746081" y="812800"/>
                  </a:cubicBezTo>
                  <a:lnTo>
                    <a:pt x="66719" y="812800"/>
                  </a:lnTo>
                  <a:cubicBezTo>
                    <a:pt x="49024" y="812800"/>
                    <a:pt x="32054" y="805771"/>
                    <a:pt x="19542" y="793258"/>
                  </a:cubicBezTo>
                  <a:cubicBezTo>
                    <a:pt x="7029" y="780746"/>
                    <a:pt x="0" y="763776"/>
                    <a:pt x="0" y="746081"/>
                  </a:cubicBezTo>
                  <a:lnTo>
                    <a:pt x="0" y="66719"/>
                  </a:lnTo>
                  <a:cubicBezTo>
                    <a:pt x="0" y="49024"/>
                    <a:pt x="7029" y="32054"/>
                    <a:pt x="19542" y="19542"/>
                  </a:cubicBezTo>
                  <a:cubicBezTo>
                    <a:pt x="32054" y="7029"/>
                    <a:pt x="49024" y="0"/>
                    <a:pt x="667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87241" y="3581177"/>
            <a:ext cx="5642392" cy="5629253"/>
            <a:chOff x="0" y="0"/>
            <a:chExt cx="7523190" cy="7505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8960" y="1816506"/>
              <a:ext cx="5805270" cy="5689164"/>
            </a:xfrm>
            <a:custGeom>
              <a:avLst/>
              <a:gdLst/>
              <a:ahLst/>
              <a:cxnLst/>
              <a:rect r="r" b="b" t="t" l="l"/>
              <a:pathLst>
                <a:path h="5689164" w="5805270">
                  <a:moveTo>
                    <a:pt x="0" y="0"/>
                  </a:moveTo>
                  <a:lnTo>
                    <a:pt x="5805270" y="0"/>
                  </a:lnTo>
                  <a:lnTo>
                    <a:pt x="5805270" y="5689164"/>
                  </a:lnTo>
                  <a:lnTo>
                    <a:pt x="0" y="5689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7523190" cy="4242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932"/>
                </a:lnSpc>
              </a:pPr>
              <a:r>
                <a:rPr lang="en-US" sz="8523">
                  <a:solidFill>
                    <a:srgbClr val="FFFFFF"/>
                  </a:solidFill>
                  <a:latin typeface="Frankfurter Medium"/>
                  <a:ea typeface="Frankfurter Medium"/>
                  <a:cs typeface="Frankfurter Medium"/>
                  <a:sym typeface="Frankfurter Medium"/>
                </a:rPr>
                <a:t>Remember You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3269317" y="3359923"/>
              <a:ext cx="898084" cy="785824"/>
              <a:chOff x="0" y="0"/>
              <a:chExt cx="812800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32223" y="113558"/>
                    </a:moveTo>
                    <a:cubicBezTo>
                      <a:pt x="-33680" y="222131"/>
                      <a:pt x="12749" y="327809"/>
                      <a:pt x="71096" y="383897"/>
                    </a:cubicBezTo>
                    <a:lnTo>
                      <a:pt x="412247" y="711200"/>
                    </a:lnTo>
                    <a:lnTo>
                      <a:pt x="746197" y="385067"/>
                    </a:lnTo>
                    <a:cubicBezTo>
                      <a:pt x="800465" y="324730"/>
                      <a:pt x="821266" y="260730"/>
                      <a:pt x="809713" y="189465"/>
                    </a:cubicBezTo>
                    <a:cubicBezTo>
                      <a:pt x="793755" y="90882"/>
                      <a:pt x="712517" y="14398"/>
                      <a:pt x="612162" y="3476"/>
                    </a:cubicBezTo>
                    <a:cubicBezTo>
                      <a:pt x="550612" y="-3151"/>
                      <a:pt x="491155" y="14267"/>
                      <a:pt x="444750" y="52829"/>
                    </a:cubicBezTo>
                    <a:cubicBezTo>
                      <a:pt x="432260" y="63204"/>
                      <a:pt x="421096" y="74804"/>
                      <a:pt x="411367" y="87411"/>
                    </a:cubicBezTo>
                    <a:cubicBezTo>
                      <a:pt x="399823" y="73056"/>
                      <a:pt x="386287" y="59925"/>
                      <a:pt x="370977" y="48288"/>
                    </a:cubicBezTo>
                    <a:cubicBezTo>
                      <a:pt x="317614" y="7733"/>
                      <a:pt x="249687" y="-8369"/>
                      <a:pt x="184440" y="4154"/>
                    </a:cubicBezTo>
                    <a:cubicBezTo>
                      <a:pt x="122643" y="16092"/>
                      <a:pt x="67173" y="55954"/>
                      <a:pt x="32223" y="113558"/>
                    </a:cubicBezTo>
                    <a:close/>
                  </a:path>
                </a:pathLst>
              </a:custGeom>
              <a:solidFill>
                <a:srgbClr val="FF3131"/>
              </a:solidFill>
              <a:ln w="28575" cap="sq">
                <a:solidFill>
                  <a:srgbClr val="B12424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1750"/>
                <a:ext cx="660400" cy="552450"/>
              </a:xfrm>
              <a:prstGeom prst="rect">
                <a:avLst/>
              </a:prstGeom>
            </p:spPr>
            <p:txBody>
              <a:bodyPr anchor="ctr" rtlCol="false" tIns="48412" lIns="48412" bIns="48412" rIns="48412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fast">
    <p:push dir="l"/>
  </p:transition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1877" y="771525"/>
            <a:ext cx="13024247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obtenidos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77205"/>
            <a:ext cx="16230600" cy="335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Hem</a:t>
            </a: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superado los desafíos técnicos más críticos, garantizando una geolocalización estable y una gestión eficiente de la batería . Con esto, declaramos el proyecto técnicamente validado y listo para su despliegue, cumpliendo nuestra promesa de fusionar seguridad y autonomía en una sola plataforma .</a:t>
            </a:r>
          </a:p>
        </p:txBody>
      </p:sp>
    </p:spTree>
  </p:cSld>
  <p:clrMapOvr>
    <a:masterClrMapping/>
  </p:clrMapOvr>
  <p:transition spd="slow">
    <p:push dir="l"/>
  </p:transition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114" y="790575"/>
            <a:ext cx="18288000" cy="28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Obstácu</a:t>
            </a:r>
            <a:r>
              <a:rPr lang="en-US" b="true" sz="8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los presentados durante el desarrollo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096663"/>
            <a:ext cx="18288000" cy="335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nfrentamos dos desafíos críticos. Primero, la persistencia del GPS, ya que Android detenía el rastreo al cerrar la app, lo que obligó a implementar los permisos para segundo plano. Y finalmente, el consumo de batería, que nos llevó a aumentar el tiempo de envió de ubicación del GPS cuando el paciente no se mueve .</a:t>
            </a:r>
          </a:p>
        </p:txBody>
      </p:sp>
    </p:spTree>
  </p:cSld>
  <p:clrMapOvr>
    <a:masterClrMapping/>
  </p:clrMapOvr>
  <p:transition spd="slow">
    <p:push dir="l"/>
  </p:transition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8123" y="3841641"/>
            <a:ext cx="16931755" cy="2603718"/>
            <a:chOff x="0" y="0"/>
            <a:chExt cx="22575673" cy="34716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23850"/>
              <a:ext cx="22575673" cy="3795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62"/>
                </a:lnSpc>
              </a:pPr>
              <a:r>
                <a:rPr lang="en-US" sz="17116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Muchas gracias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11194084" y="1735812"/>
              <a:ext cx="639910" cy="559921"/>
              <a:chOff x="0" y="0"/>
              <a:chExt cx="812800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32223" y="113558"/>
                    </a:moveTo>
                    <a:cubicBezTo>
                      <a:pt x="-33680" y="222131"/>
                      <a:pt x="12749" y="327809"/>
                      <a:pt x="71096" y="383897"/>
                    </a:cubicBezTo>
                    <a:lnTo>
                      <a:pt x="412247" y="711200"/>
                    </a:lnTo>
                    <a:lnTo>
                      <a:pt x="746197" y="385067"/>
                    </a:lnTo>
                    <a:cubicBezTo>
                      <a:pt x="800465" y="324730"/>
                      <a:pt x="821266" y="260730"/>
                      <a:pt x="809713" y="189465"/>
                    </a:cubicBezTo>
                    <a:cubicBezTo>
                      <a:pt x="793755" y="90882"/>
                      <a:pt x="712517" y="14398"/>
                      <a:pt x="612162" y="3476"/>
                    </a:cubicBezTo>
                    <a:cubicBezTo>
                      <a:pt x="550612" y="-3151"/>
                      <a:pt x="491155" y="14267"/>
                      <a:pt x="444750" y="52829"/>
                    </a:cubicBezTo>
                    <a:cubicBezTo>
                      <a:pt x="432260" y="63204"/>
                      <a:pt x="421096" y="74804"/>
                      <a:pt x="411367" y="87411"/>
                    </a:cubicBezTo>
                    <a:cubicBezTo>
                      <a:pt x="399823" y="73056"/>
                      <a:pt x="386287" y="59925"/>
                      <a:pt x="370977" y="48288"/>
                    </a:cubicBezTo>
                    <a:cubicBezTo>
                      <a:pt x="317614" y="7733"/>
                      <a:pt x="249687" y="-8369"/>
                      <a:pt x="184440" y="4154"/>
                    </a:cubicBezTo>
                    <a:cubicBezTo>
                      <a:pt x="122643" y="16092"/>
                      <a:pt x="67173" y="55954"/>
                      <a:pt x="32223" y="113558"/>
                    </a:cubicBezTo>
                    <a:close/>
                  </a:path>
                </a:pathLst>
              </a:custGeom>
              <a:solidFill>
                <a:srgbClr val="FF3131"/>
              </a:solidFill>
              <a:ln w="38100" cap="sq">
                <a:solidFill>
                  <a:srgbClr val="B12424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1750"/>
                <a:ext cx="660400" cy="552450"/>
              </a:xfrm>
              <a:prstGeom prst="rect">
                <a:avLst/>
              </a:prstGeom>
            </p:spPr>
            <p:txBody>
              <a:bodyPr anchor="ctr" rtlCol="false" tIns="169649" lIns="169649" bIns="169649" rIns="169649"/>
              <a:lstStyle/>
              <a:p>
                <a:pPr algn="ctr">
                  <a:lnSpc>
                    <a:spcPts val="12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4297367"/>
            <a:ext cx="18288000" cy="145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¿Preguntas?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DAG5VDK7Td0</dc:identifier>
  <dcterms:modified xsi:type="dcterms:W3CDTF">2011-08-01T06:04:30Z</dcterms:modified>
  <cp:revision>1</cp:revision>
  <dc:title>Copia de Copia de Remember You</dc:title>
</cp:coreProperties>
</file>